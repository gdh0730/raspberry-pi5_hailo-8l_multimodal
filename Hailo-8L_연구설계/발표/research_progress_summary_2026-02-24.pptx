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audio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main</c:v>
                </c:pt>
                <c:pt idx="1">
                  <c:v>C-&gt;R</c:v>
                </c:pt>
                <c:pt idx="2">
                  <c:v>R-&gt;C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0.36708990496837535</c:v>
                </c:pt>
                <c:pt idx="1">
                  <c:v>0.23863931622251414</c:v>
                </c:pt>
                <c:pt idx="2">
                  <c:v>0.1297090951560647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video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main</c:v>
                </c:pt>
                <c:pt idx="1">
                  <c:v>C-&gt;R</c:v>
                </c:pt>
                <c:pt idx="2">
                  <c:v>R-&gt;C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0.2536100556678463</c:v>
                </c:pt>
                <c:pt idx="1">
                  <c:v>0.17291993617186355</c:v>
                </c:pt>
                <c:pt idx="2">
                  <c:v>0.048624660469030946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fusion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main</c:v>
                </c:pt>
                <c:pt idx="1">
                  <c:v>C-&gt;R</c:v>
                </c:pt>
                <c:pt idx="2">
                  <c:v>R-&gt;C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0.3950126532293495</c:v>
                </c:pt>
                <c:pt idx="1">
                  <c:v>0.22879563149425453</c:v>
                </c:pt>
                <c:pt idx="2">
                  <c:v>0.07141204059213567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P2</c:v>
                </c:pt>
                <c:pt idx="1">
                  <c:v>P3</c:v>
                </c:pt>
                <c:pt idx="2">
                  <c:v>v2</c:v>
                </c:pt>
                <c:pt idx="3">
                  <c:v>v3</c:v>
                </c:pt>
                <c:pt idx="4">
                  <c:v>v5</c:v>
                </c:pt>
                <c:pt idx="5">
                  <c:v>v6</c:v>
                </c:pt>
                <c:pt idx="6">
                  <c:v>v7</c:v>
                </c:pt>
                <c:pt idx="7">
                  <c:v>v8 단일</c:v>
                </c:pt>
                <c:pt idx="8">
                  <c:v>v8 앙상블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0.3950126532293495</c:v>
                </c:pt>
                <c:pt idx="1">
                  <c:v>0.37752500030630803</c:v>
                </c:pt>
                <c:pt idx="2">
                  <c:v>0.42052220516131583</c:v>
                </c:pt>
                <c:pt idx="3">
                  <c:v>0.48071907003007586</c:v>
                </c:pt>
                <c:pt idx="4">
                  <c:v>0.5734215586387995</c:v>
                </c:pt>
                <c:pt idx="5">
                  <c:v>0.5985302197244017</c:v>
                </c:pt>
                <c:pt idx="6">
                  <c:v>0.6056304639310627</c:v>
                </c:pt>
                <c:pt idx="7">
                  <c:v>0.69917018470261</c:v>
                </c:pt>
                <c:pt idx="8">
                  <c:v>0.7098786794158665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8"/>
          <c:min val="0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Phase-2 fusion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CREMA-&gt;RAVDESS</c:v>
                </c:pt>
                <c:pt idx="1">
                  <c:v>RAVDESS-&gt;CREMA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0.22879563149425453</c:v>
                </c:pt>
                <c:pt idx="1">
                  <c:v>0.07141204059213567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v5 logreg+CORAL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CREMA-&gt;RAVDESS</c:v>
                </c:pt>
                <c:pt idx="1">
                  <c:v>RAVDESS-&gt;CREMA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0.30247366636584244</c:v>
                </c:pt>
                <c:pt idx="1">
                  <c:v>0.27238168007702757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v8 hubert+CORAL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CREMA-&gt;RAVDESS</c:v>
                </c:pt>
                <c:pt idx="1">
                  <c:v>RAVDESS-&gt;CREMA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0.3206715697521032</c:v>
                </c:pt>
                <c:pt idx="1">
                  <c:v>0.3187326054140357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800" b="1">
                <a:solidFill>
                  <a:srgbClr val="0E203F"/>
                </a:solidFill>
                <a:latin typeface="Malgun Gothic"/>
              </a:defRPr>
            </a:pPr>
            <a:r>
              <a:t>CREMA-D + RAVDESS 멀티모달 연구 진행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>
                <a:solidFill>
                  <a:srgbClr val="424242"/>
                </a:solidFill>
                <a:latin typeface="Malgun Gothic"/>
              </a:defRPr>
            </a:pPr>
            <a:r>
              <a:t>설계서·진행문서·실험 산출물 교차검증 기반 상세 발표자료 (기준일: 2026-02-24)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발표 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424242"/>
                </a:solidFill>
                <a:latin typeface="Malgun Gothic"/>
              </a:defRPr>
            </a:pPr>
            <a:r>
              <a:t>I. 연구 맥락: 문제정의, KPI, 데이터/분할 프로토콜</a:t>
            </a:r>
          </a:p>
          <a:p>
            <a:pPr>
              <a:defRPr sz="2000" b="0">
                <a:solidFill>
                  <a:srgbClr val="424242"/>
                </a:solidFill>
                <a:latin typeface="Malgun Gothic"/>
              </a:defRPr>
            </a:pPr>
            <a:r>
              <a:t>II. 방법론: 전처리/학습 이론, 세부 설정값, 코드 적용 위치</a:t>
            </a:r>
          </a:p>
          <a:p>
            <a:pPr>
              <a:defRPr sz="2000" b="0">
                <a:solidFill>
                  <a:srgbClr val="424242"/>
                </a:solidFill>
                <a:latin typeface="Malgun Gothic"/>
              </a:defRPr>
            </a:pPr>
            <a:r>
              <a:t>III. 단계별 실행: Phase-1/2/3/3.5의 가설-방법-결과-인사이트</a:t>
            </a:r>
          </a:p>
          <a:p>
            <a:pPr>
              <a:defRPr sz="2000" b="0">
                <a:solidFill>
                  <a:srgbClr val="424242"/>
                </a:solidFill>
                <a:latin typeface="Malgun Gothic"/>
              </a:defRPr>
            </a:pPr>
            <a:r>
              <a:t>IV. 종합 분석: 성능 추세, ablation, 설계 대비 구현 현황</a:t>
            </a:r>
          </a:p>
          <a:p>
            <a:pPr>
              <a:defRPr sz="2000" b="0">
                <a:solidFill>
                  <a:srgbClr val="424242"/>
                </a:solidFill>
                <a:latin typeface="Malgun Gothic"/>
              </a:defRPr>
            </a:pPr>
            <a:r>
              <a:t>V. 의사결정: 0.7 달성 해석과 0.9 전환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algun Gothic"/>
              </a:defRPr>
            </a:pPr>
            <a:r>
              <a:t>I. 연구 맥락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E1EBFA"/>
                </a:solidFill>
                <a:latin typeface="Malgun Gothic"/>
              </a:defRPr>
            </a:pPr>
            <a:r>
              <a:t>문제정의, 연구질문, KPI, 데이터/평가 프로토콜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연구 배경과 문제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900" b="1">
                <a:solidFill>
                  <a:srgbClr val="0072C6"/>
                </a:solidFill>
                <a:latin typeface="Malgun Gothic"/>
              </a:defRPr>
            </a:pPr>
            <a:r>
              <a:t>멀티모달 관점에서 해결해야 했던 핵심 문제</a:t>
            </a:r>
          </a:p>
          <a:p>
            <a:pPr>
              <a:defRPr sz="1800" b="0">
                <a:solidFill>
                  <a:srgbClr val="424242"/>
                </a:solidFill>
                <a:latin typeface="Malgun Gothic"/>
              </a:defRPr>
            </a:pPr>
            <a:r>
              <a:t>• 감정 단서는 음성(억양/에너지/리듬)과 영상(표정/동작/시선)에 분산되어 단일모달이 취약합니다.</a:t>
            </a:r>
          </a:p>
          <a:p>
            <a:pPr>
              <a:defRPr sz="1800" b="0">
                <a:solidFill>
                  <a:srgbClr val="424242"/>
                </a:solidFill>
                <a:latin typeface="Malgun Gothic"/>
              </a:defRPr>
            </a:pPr>
            <a:r>
              <a:t>• CREMA-D/RAVDESS 간 도메인 차이로 cross-domain 성능 붕괴가 반복적으로 관찰되었습니다.</a:t>
            </a:r>
          </a:p>
          <a:p>
            <a:pPr>
              <a:defRPr sz="1800" b="0">
                <a:solidFill>
                  <a:srgbClr val="424242"/>
                </a:solidFill>
                <a:latin typeface="Malgun Gothic"/>
              </a:defRPr>
            </a:pPr>
            <a:r>
              <a:t>• 그래서 본 연구는 main 향상과 cross 회복을 동시에 달성하는 이중 KPI 구조로 운영되었습니다.</a:t>
            </a:r>
          </a:p>
          <a:p>
            <a:pPr>
              <a:defRPr sz="1800" b="0">
                <a:solidFill>
                  <a:srgbClr val="424242"/>
                </a:solidFill>
                <a:latin typeface="Malgun Gothic"/>
              </a:defRPr>
            </a:pPr>
            <a:r>
              <a:t>• 연구 설계는 deep-research-report(기본) + advancement(고도화) 문서 체계를 기준으로 확장되었습니다.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핵심 KPI 스냅샷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463040"/>
            <a:ext cx="3657600" cy="4572000"/>
          </a:xfrm>
          <a:prstGeom prst="roundRect">
            <a:avLst/>
          </a:prstGeom>
          <a:solidFill>
            <a:srgbClr val="EFF6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0.7 트랙(현재)</a:t>
            </a:r>
          </a:p>
          <a:p>
            <a:pPr algn="ctr">
              <a:defRPr sz="3000" b="1">
                <a:solidFill>
                  <a:srgbClr val="0072C6"/>
                </a:solidFill>
                <a:latin typeface="Malgun Gothic"/>
              </a:defRPr>
            </a:pPr>
            <a:r>
              <a:t>0.7099</a:t>
            </a:r>
          </a:p>
          <a:p>
            <a:pPr algn="ctr"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앙상블 기준 달성, 단일모델 0.6992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1463040"/>
            <a:ext cx="3657600" cy="4572000"/>
          </a:xfrm>
          <a:prstGeom prst="roundRect">
            <a:avLst/>
          </a:prstGeom>
          <a:solidFill>
            <a:srgbClr val="F3FAF4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0.9 트랙 격차</a:t>
            </a:r>
          </a:p>
          <a:p>
            <a:pPr algn="ctr">
              <a:defRPr sz="3000" b="1">
                <a:solidFill>
                  <a:srgbClr val="0072C6"/>
                </a:solidFill>
                <a:latin typeface="Malgun Gothic"/>
              </a:defRPr>
            </a:pPr>
            <a:r>
              <a:t>+0.2008</a:t>
            </a:r>
          </a:p>
          <a:p>
            <a:pPr algn="ctr"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단일목표 0.9 대비 부족분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463040"/>
            <a:ext cx="3657600" cy="4572000"/>
          </a:xfrm>
          <a:prstGeom prst="roundRect">
            <a:avLst/>
          </a:prstGeom>
          <a:solidFill>
            <a:srgbClr val="FFF5EB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Cross 양방향 최고</a:t>
            </a:r>
          </a:p>
          <a:p>
            <a:pPr algn="ctr">
              <a:defRPr sz="3000" b="1">
                <a:solidFill>
                  <a:srgbClr val="0072C6"/>
                </a:solidFill>
                <a:latin typeface="Malgun Gothic"/>
              </a:defRPr>
            </a:pPr>
            <a:r>
              <a:t>0.3207 / 0.3187</a:t>
            </a:r>
          </a:p>
          <a:p>
            <a:pPr algn="ctr"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v8 hubert + CORAL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연구 데이터셋 규모와 모집단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111556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828800"/>
                <a:gridCol w="5943600"/>
              </a:tblGrid>
              <a:tr h="74458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수치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해석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전체 샘플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11,762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CREMA-D + RAVDESS 전체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CREMA-D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7,442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배우 91, 감정 발화 중심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RAVDESS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4,320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배우 24, audio/video 포함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Common-6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10,610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공통 라벨 정합 후 실험 가능 데이터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멀티모달 AV(Common-6)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8,498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주 학습/평가셋</a:t>
                      </a:r>
                    </a:p>
                  </a:txBody>
                  <a:tcPr/>
                </a:tc>
              </a:tr>
              <a:tr h="7445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RAVDESS AO(Common-6)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오디오 보조 비교셋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라벨 분포(Emotion Common-6)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280160"/>
          <a:ext cx="8778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743200"/>
                <a:gridCol w="274320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라벨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샘플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비율(%)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angry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1,847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17.41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disgust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1,847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17.41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fearful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1,847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17.41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happy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1,847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17.41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1,375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12.96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sad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1,847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17.41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main 평가 분할 프로토콜 (GroupKFold)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113385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828800"/>
                <a:gridCol w="6400800"/>
              </a:tblGrid>
              <a:tr h="13030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groups(actor)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fold counts</a:t>
                      </a:r>
                    </a:p>
                  </a:txBody>
                  <a:tcPr/>
                </a:tc>
              </a:tr>
              <a:tr h="13030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11762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0:2370, 1:2370, 2:2294, 3:2369, 4:2359</a:t>
                      </a:r>
                    </a:p>
                  </a:txBody>
                  <a:tcPr/>
                </a:tc>
              </a:tr>
              <a:tr h="13030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crema_d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7442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0:1476, 1:1475, 2:1475, 3:1546, 4:1470</a:t>
                      </a:r>
                    </a:p>
                  </a:txBody>
                  <a:tcPr/>
                </a:tc>
              </a:tr>
              <a:tr h="13030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ravdess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4320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0:900, 1:900, 2:900, 3:900, 4:720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cross 평가 분할 파일(실제 산출물)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14630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파일 경로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라인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비고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derived/splits/cross_dataset/test_crema_train_ravdess_common6_av_train.txt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split 파일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derived/splits/cross_dataset/test_crema_train_ravdess_common6_av_test.txt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7442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split 파일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derived/splits/cross_dataset/train_crema_test_ravdess_common6_av_train.txt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7442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split 파일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derived/splits/cross_dataset/train_crema_test_ravdess_common6_av_test.txt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split 파일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derived/splits/cross_dataset/test_crema_train_ravdess_common6_train.txt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3168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split 파일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derived/splits/cross_dataset/test_crema_train_ravdess_common6_test.txt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7442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split 파일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derived/splits/cross_dataset/train_crema_test_ravdess_common6_train.txt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7442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split 파일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derived/splits/cross_dataset/train_crema_test_ravdess_common6_test.txt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3168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split 파일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pretrained feature cache 실제 생성 결과 (cache_v5_hubert)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3716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값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cache dir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derived/features/cache_v5_hubert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audio backbone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hubert_base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auto/cuda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NVIDIA GeForce RTX 4090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rows(ok/fail)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8498 / 0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elapsed_sec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887.4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algun Gothic"/>
              </a:defRPr>
            </a:pPr>
            <a:r>
              <a:t>II.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E1EBFA"/>
                </a:solidFill>
                <a:latin typeface="Malgun Gothic"/>
              </a:defRPr>
            </a:pPr>
            <a:r>
              <a:t>전처리·모델·평가를 단계별로 통제해 성능 기여를 분해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전처리 방법론(P-track)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557784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P1 데이터 정합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common-6 라벨 매핑으로 CREMA-D/RAVDESS 통합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manifest/split 자동 생성으로 재현성 확보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AV 중심, AO 보조 비교셋 병행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005840"/>
            <a:ext cx="5577840" cy="2560320"/>
          </a:xfrm>
          <a:prstGeom prst="roundRect">
            <a:avLst/>
          </a:prstGeom>
          <a:solidFill>
            <a:srgbClr val="F3FAF4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P2 표현 고도화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cache_v2: log-mel/delta 통계 특징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cache_v3: raw 재추출 + pretrained video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cache_v5: HuBERT 오디오 표현 강화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703320"/>
            <a:ext cx="5577840" cy="2560320"/>
          </a:xfrm>
          <a:prstGeom prst="roundRect">
            <a:avLst/>
          </a:prstGeom>
          <a:solidFill>
            <a:srgbClr val="FFF5EB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P3 정합/품질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main/cross 공통 규약으로 비교 가능성 확보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캐시 버전 전략으로 변경 영향 분리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미완료: ROI/품질플래그/CMVN/SpecAug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03320"/>
            <a:ext cx="5577840" cy="2560320"/>
          </a:xfrm>
          <a:prstGeom prst="roundRect">
            <a:avLst/>
          </a:prstGeom>
          <a:solidFill>
            <a:srgbClr val="F7F2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P4 연구적 의미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입력 표현이 성능 병목임을 실증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모델 개선과 입력 개선의 기여 분해 가능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0.9 트랙 품질 인지형 전처리의 근거 확보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모델 설계/학습 방법론(A/T-track)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557784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A1 비교군 설계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B0 -&gt; ML(LR/SVM/RF) -&gt; FP32 멀티태스크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모달(audio/video/fusion)별 동시 비교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단계별 기준선 유지로 delta 해석 가능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005840"/>
            <a:ext cx="5577840" cy="2560320"/>
          </a:xfrm>
          <a:prstGeom prst="roundRect">
            <a:avLst/>
          </a:prstGeom>
          <a:solidFill>
            <a:srgbClr val="F3FAF4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A2 FP32 구조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dual-encoder + fusion(concat/gated)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emotion + arousal2/3 multi-head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결측 라벨(-1) 마스킹으로 샘플 손실 최소화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703320"/>
            <a:ext cx="5577840" cy="2560320"/>
          </a:xfrm>
          <a:prstGeom prst="roundRect">
            <a:avLst/>
          </a:prstGeom>
          <a:solidFill>
            <a:srgbClr val="FFF5EB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A3 학습전략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CE/Focal + weighted sampler + label smoothing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cosine scheduler + grad clipping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gated/wide 확장으로 결합 용량 강화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03320"/>
            <a:ext cx="5577840" cy="2560320"/>
          </a:xfrm>
          <a:prstGeom prst="roundRect">
            <a:avLst/>
          </a:prstGeom>
          <a:solidFill>
            <a:srgbClr val="F7F2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T/Domain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audio pretrained: wav2vec2 -&gt; HuBERT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video pretrained embedding 결합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cross 적응: CORAL none vs coral 비교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비교/평가/통계 방법론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557784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E1 지표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주지표: emotion macro-F1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보조: accuracy/OVR-AUC, arousal2/3 MAE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불균형에서 accuracy 편향 보정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005840"/>
            <a:ext cx="5577840" cy="2560320"/>
          </a:xfrm>
          <a:prstGeom prst="roundRect">
            <a:avLst/>
          </a:prstGeom>
          <a:solidFill>
            <a:srgbClr val="F3FAF4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E2 통제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동일 분할·라벨·지표 유지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변수(전처리/모델/학습) 단계별 분리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main/cross 동시 관찰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703320"/>
            <a:ext cx="5577840" cy="2560320"/>
          </a:xfrm>
          <a:prstGeom prst="roundRect">
            <a:avLst/>
          </a:prstGeom>
          <a:solidFill>
            <a:srgbClr val="FFF5EB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E3 통계 검증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phase2 pairwise bootstrap CI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phase3 vs phase2 delta CI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유의한 개선/비개선 구간 분리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03320"/>
            <a:ext cx="5577840" cy="2560320"/>
          </a:xfrm>
          <a:prstGeom prst="roundRect">
            <a:avLst/>
          </a:prstGeom>
          <a:solidFill>
            <a:srgbClr val="F7F2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E4 운영 재현성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summary/predictions/progress 표준화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장시간 무출력 이슈 -&gt; progress.json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스크립트 기반 리포트 자동 생성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특징 캐시 체인 상세(무엇을 어디에 적용했는가)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325880"/>
          <a:ext cx="10424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1828800"/>
                <a:gridCol w="2011680"/>
                <a:gridCol w="1828800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캐시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오디오 백본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성공/전체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장치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생성시간(s)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cache_v2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8498 / 8498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191.4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cache_v3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8497 / 8498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2420.0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cache_v4(wav2vec2)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wav2vec2_base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8498 / 8498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1781.8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cache_v5_hubert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hubert_base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8498 / 8498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887.4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핵심 설정 Traceability 매트릭스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43000"/>
          <a:ext cx="1115568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840480"/>
                <a:gridCol w="2560320"/>
                <a:gridCol w="2103120"/>
              </a:tblGrid>
              <a:tr h="8305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설정/방법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코드/스크립트 적용 위치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무엇이 바뀌었나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결과(요약)</a:t>
                      </a:r>
                    </a:p>
                  </a:txBody>
                  <a:tcPr/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audio_pretrained_backbone=wav2vec2_base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scripts/run_phase35_strong_v1.sh (STEP1), cache_v4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오디오 임베딩을 통계 특징에 추가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v5 main 0.5734</a:t>
                      </a:r>
                    </a:p>
                  </a:txBody>
                  <a:tcPr/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audio_pretrained_backbone=hubert_base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scripts/run_phase35_next_v8_hubert_main.sh (STEP1), cache_v5_hubert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오디오 표현력 상향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v8 단일 0.6992</a:t>
                      </a:r>
                    </a:p>
                  </a:txBody>
                  <a:tcPr/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fusion_type=gated + modality_dropout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scripts/train_fp32_multitask.py (--fusion-type, --modality-dropout-p)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모달 신뢰도 차이를 반영하는 결합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v7 0.6056 -&gt; v8 0.6992</a:t>
                      </a:r>
                    </a:p>
                  </a:txBody>
                  <a:tcPr/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label_smoothing + weighted_sampler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scripts/train_fp32_multitask.py (--label-smoothing, --weighted-sampler)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불균형/과신 문제 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v6 0.5985, v7 0.6056</a:t>
                      </a:r>
                    </a:p>
                  </a:txBody>
                  <a:tcPr/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domain_adapt=coral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scripts/train_ml_baselines.py (--domain-adapt coral)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도메인 공분산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0.3207/0.3187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전처리/표현 개념 이론 + 실제 적용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100584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3474720"/>
                <a:gridCol w="146304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개념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이론/의도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실제 적용(설정)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상태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log-mel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주파수 축을 지각 스케일로 압축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cache_v2 audio_feature_v2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적용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delta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시간 변화율로 억양 변화 포착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cache_v2 d1 통계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적용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pretrained audio 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대규모 음성표현 prior 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wav2vec2/hubert/wavlm 옵션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적용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pretrained video 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표정/장면 표현력 강화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resnet18/resnet34/efficientnet_b0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적용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CMVN / SpecAugment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도메인 편차/과적합 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P-track 강한 버전 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미완료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ROI/품질플래그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얼굴 검출 품질 기반 신뢰도 반영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quality-aware fusion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미완료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모델/학습 개념 이론 + 실제 적용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2468880"/>
                <a:gridCol w="338328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개념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핵심 이론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적용 파라미터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적용 위치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Cross-Entropy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클래스 확률 최대화 기본 목적함수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--emotion-loss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train_fp32_multitask.py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Focal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쉬운 샘플 가중치 감소, 어려운 샘플 집중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--emotion-loss focal --focal-gamma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train_fp32_multitask.py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Weighted Sampler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불균형 클래스 출현 빈도 보정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--weighted-sampler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train_fp32_multitask.py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Label Smoothing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과신(confidence overfit) 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--label-smoothing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train_fp32_multitask.py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Gated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모달별 신뢰도 가중 결합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--fusion-type 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train_fp32_multitask.py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Cosine 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학습률을 주기적으로 완만 감소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CosineAnnealingLR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train_fp32_multitask.py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CORAL 도메인 적응: 개념 -&gt; 구현 -&gt; 결과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557784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개념/이론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source/target feature covariance 차이를 줄여 도메인 정렬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분류기 구조는 유지하고 입력 분포를 보정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데이터셋 스타일 차이에 강건한 baseline 목적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005840"/>
            <a:ext cx="5577840" cy="2560320"/>
          </a:xfrm>
          <a:prstGeom prst="roundRect">
            <a:avLst/>
          </a:prstGeom>
          <a:solidFill>
            <a:srgbClr val="F3FAF4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구현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scripts/train_ml_baselines.py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--domain-adapt none vs coral 비교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logreg, linear_svm에서 동일 프로토콜 적용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703320"/>
            <a:ext cx="5577840" cy="2560320"/>
          </a:xfrm>
          <a:prstGeom prst="roundRect">
            <a:avLst/>
          </a:prstGeom>
          <a:solidFill>
            <a:srgbClr val="FFF5EB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실험 설계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CREMA-&gt;RAVDESS, RAVDESS-&gt;CREMA 양방향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phase2/v3/v5/v8 단계별 반복 측정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bootstrap 보고서와 함께 해석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03320"/>
            <a:ext cx="5577840" cy="2560320"/>
          </a:xfrm>
          <a:prstGeom prst="roundRect">
            <a:avLst/>
          </a:prstGeom>
          <a:solidFill>
            <a:srgbClr val="F7F2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결과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C-&gt;R: 0.2288 -&gt; 0.3207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R-&gt;C: 0.0714 -&gt; 0.3187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적응 미적용 대비 명확한 개선 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v7(wide) vs v8(tune4) 하이퍼파라미터 상세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1097279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468880"/>
                <a:gridCol w="2468880"/>
                <a:gridCol w="3749039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v7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의미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학습 길이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0.00045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수렴 속도/안정성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hidden_dim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표현 용량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emb_dim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모달 임베딩 크기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dropout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과적합 억제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modality_dropout_p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모달 강건성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label_smoothing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과신 완화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weighted_sampler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불균형 대응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실행 환경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실험 파이프라인 상세(무엇을 어디에 어떻게)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4300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108960"/>
                <a:gridCol w="3291840"/>
                <a:gridCol w="301752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실행 스크립트/코드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입력/설정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출력/결과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데이터 정합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scripts/prepare_research_data.py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CREMA-D + RAVDESS, common-6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manifest/splits/summary.json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특징 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scripts/prepare_advanced_features.py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cache_v2/v3/v4/v5, pretrained backbone 옵션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derived/features/cache_*/summary.json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ML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scripts/train_ml_baselines.py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logreg/rbf_svm/linear_svm, domain_adapt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phase2/phase35 *_metrics.csv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FP32 multitask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scripts/train_fp32_multitask.py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fusion/loss/sampler/smoothing/hparams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summary.json + predictions.csv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분석/리포트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scripts/analyze_phase*.py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bootstrap + delta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phase*_results.md / *_metrics.csv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algun Gothic"/>
              </a:defRPr>
            </a:pPr>
            <a:r>
              <a:t>III. 단계별 실행 및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E1EBFA"/>
                </a:solidFill>
                <a:latin typeface="Malgun Gothic"/>
              </a:defRPr>
            </a:pPr>
            <a:r>
              <a:t>각 단계를 가설-방법-비교-인사이트 템플릿으로 정리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단계별 실행 로드맵(요약)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113385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383280"/>
                <a:gridCol w="3291840"/>
                <a:gridCol w="2926080"/>
              </a:tblGrid>
              <a:tr h="74458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핵심 질문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핵심 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대표 성과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Phase-1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기준선은 어디인가?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majority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F1 약 0.05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Phase-2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fusion 이득이 있는가?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ML(audio/video/fusion)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main fusion 0.3950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Phase-3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FP32 multitask 효과는?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dual-encoder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main 하락/cross 일부 개선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v2~v3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표현 고도화 효과는?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cache 개선 + pretrained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main 0.4807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v4~v5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적응으로 cross 회복 가능한가?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CORAL + strong-v1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0.3025/0.2724</a:t>
                      </a:r>
                    </a:p>
                  </a:txBody>
                  <a:tcPr/>
                </a:tc>
              </a:tr>
              <a:tr h="7445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v6~v8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 달성 가능한가?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recipe+gated+HuBERT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단일 0.6992/앙상블 0.7099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Phase-1(B0): 기준선 확립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557784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연구질문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최빈 기준선을 통해 개선폭을 얼마나 신뢰성 있게 해석할 수 있는가?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005840"/>
            <a:ext cx="5577840" cy="2560320"/>
          </a:xfrm>
          <a:prstGeom prst="roundRect">
            <a:avLst/>
          </a:prstGeom>
          <a:solidFill>
            <a:srgbClr val="F3FAF4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방법론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majority baseline 구성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macro-F1 중심 비교축 고정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703320"/>
            <a:ext cx="5577840" cy="2560320"/>
          </a:xfrm>
          <a:prstGeom prst="roundRect">
            <a:avLst/>
          </a:prstGeom>
          <a:solidFill>
            <a:srgbClr val="FFF5EB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비교/평가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B0 F1 약 0.05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후속 단계 delta 비교 anchor 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03320"/>
            <a:ext cx="5577840" cy="2560320"/>
          </a:xfrm>
          <a:prstGeom prst="roundRect">
            <a:avLst/>
          </a:prstGeom>
          <a:solidFill>
            <a:srgbClr val="F7F2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결론/인사이트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성능 목표보다 평가 체계의 기준점 확보가 목적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이후 개선폭 해석 신뢰성 확보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Phase-2: 멀티모달 기본 성능 검증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557784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연구질문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고전 모델에서도 fusion이 일관된 이득을 보이는가?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005840"/>
            <a:ext cx="5577840" cy="2560320"/>
          </a:xfrm>
          <a:prstGeom prst="roundRect">
            <a:avLst/>
          </a:prstGeom>
          <a:solidFill>
            <a:srgbClr val="F3FAF4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방법론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LR/SVM/RF를 audio/video/fusion으로 병렬 비교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main/cross 양방향 동시 측정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동일 프로토콜로 통제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703320"/>
            <a:ext cx="5577840" cy="2560320"/>
          </a:xfrm>
          <a:prstGeom prst="roundRect">
            <a:avLst/>
          </a:prstGeom>
          <a:solidFill>
            <a:srgbClr val="FFF5EB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비교/평가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main F1: audio 0.3671, video 0.2536, fusion 0.3950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cross C-&gt;R fusion 0.2288, R-&gt;C fusion 0.0714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03320"/>
            <a:ext cx="5577840" cy="2560320"/>
          </a:xfrm>
          <a:prstGeom prst="roundRect">
            <a:avLst/>
          </a:prstGeom>
          <a:solidFill>
            <a:srgbClr val="F7F2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결론/인사이트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main에서는 fusion 이득이 확인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cross는 방향 비대칭으로 도메인 갭이 핵심 병목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Phase-2 pairwise bootstrap(main)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280160"/>
          <a:ext cx="93268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2743200"/>
                <a:gridCol w="1645920"/>
              </a:tblGrid>
              <a:tr h="11201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delta(F1)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해석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fusion - 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+0.0281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[0.0196, 0.0373]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유의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fusion -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+0.1417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[0.1294, 0.1531]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유의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audio -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+0.1136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[0.1016, 0.1264]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유의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Phase-3(FP32): 멀티태스크 딥러닝 검증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557784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연구질문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FP32 구조가 main/cross를 동시에 개선하는가?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005840"/>
            <a:ext cx="5577840" cy="2560320"/>
          </a:xfrm>
          <a:prstGeom prst="roundRect">
            <a:avLst/>
          </a:prstGeom>
          <a:solidFill>
            <a:srgbClr val="F3FAF4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방법론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dual-encoder + multitask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결측 라벨 마스킹 처리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학습 안정화 recipe 반영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703320"/>
            <a:ext cx="5577840" cy="2560320"/>
          </a:xfrm>
          <a:prstGeom prst="roundRect">
            <a:avLst/>
          </a:prstGeom>
          <a:solidFill>
            <a:srgbClr val="FFF5EB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비교/평가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main F1 0.3775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cross C-&gt;R 0.2865, R-&gt;C 0.0705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03320"/>
            <a:ext cx="5577840" cy="2560320"/>
          </a:xfrm>
          <a:prstGeom prst="roundRect">
            <a:avLst/>
          </a:prstGeom>
          <a:solidFill>
            <a:srgbClr val="F7F2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결론/인사이트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구조만으로 main 우세가 자동 보장되지 않음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표현/학습/적응을 함께 올려야 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Phase-3 vs Phase-2(fusion) bootstrap delta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463040"/>
          <a:ext cx="9601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2926080"/>
                <a:gridCol w="1097280"/>
                <a:gridCol w="1371600"/>
              </a:tblGrid>
              <a:tr h="9829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delta(F1)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판정</a:t>
                      </a:r>
                    </a:p>
                  </a:txBody>
                  <a:tcPr/>
                </a:tc>
              </a:tr>
              <a:tr h="9829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-0.0176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[-0.0257, -0.0085]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8498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유의</a:t>
                      </a:r>
                    </a:p>
                  </a:txBody>
                  <a:tcPr/>
                </a:tc>
              </a:tr>
              <a:tr h="9829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C-&gt;R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+0.0570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[0.0293, 0.0855]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1056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유의</a:t>
                      </a:r>
                    </a:p>
                  </a:txBody>
                  <a:tcPr/>
                </a:tc>
              </a:tr>
              <a:tr h="9829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R-&gt;C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-0.0007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[-0.0068, 0.0059]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7442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불명확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Phase-3.5(v2~v3): 표현 고도화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557784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연구질문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입력 표현 강화가 성능 병목을 해소하는가?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005840"/>
            <a:ext cx="5577840" cy="2560320"/>
          </a:xfrm>
          <a:prstGeom prst="roundRect">
            <a:avLst/>
          </a:prstGeom>
          <a:solidFill>
            <a:srgbClr val="F3FAF4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방법론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cache_v2(log-mel/delta)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cache_v3(pretrained video)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ML/FP32 병행 비교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703320"/>
            <a:ext cx="5577840" cy="2560320"/>
          </a:xfrm>
          <a:prstGeom prst="roundRect">
            <a:avLst/>
          </a:prstGeom>
          <a:solidFill>
            <a:srgbClr val="FFF5EB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비교/평가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v2 main 최고 0.4205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v3 main 최고 0.4807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cross baseline은 일부 붕괴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03320"/>
            <a:ext cx="5577840" cy="2560320"/>
          </a:xfrm>
          <a:prstGeom prst="roundRect">
            <a:avLst/>
          </a:prstGeom>
          <a:solidFill>
            <a:srgbClr val="F7F2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결론/인사이트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표현 개선은 main 성능에 직접 기여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적응이 없으면 cross 일반화는 취약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Phase-3.5(v4~v5): 도메인 적응 + strong-v1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557784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연구질문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CORAL이 cross 붕괴를 회복하는가?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005840"/>
            <a:ext cx="5577840" cy="2560320"/>
          </a:xfrm>
          <a:prstGeom prst="roundRect">
            <a:avLst/>
          </a:prstGeom>
          <a:solidFill>
            <a:srgbClr val="F3FAF4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방법론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same classifier(logreg)에서 none vs coral 비교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audio pretrained 강화 결합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main/cross 동시 모니터링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703320"/>
            <a:ext cx="5577840" cy="2560320"/>
          </a:xfrm>
          <a:prstGeom prst="roundRect">
            <a:avLst/>
          </a:prstGeom>
          <a:solidFill>
            <a:srgbClr val="FFF5EB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비교/평가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v5 main 0.5734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v5+CORAL C-&gt;R 0.3025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v5+CORAL R-&gt;C 0.2724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03320"/>
            <a:ext cx="5577840" cy="2560320"/>
          </a:xfrm>
          <a:prstGeom prst="roundRect">
            <a:avLst/>
          </a:prstGeom>
          <a:solidFill>
            <a:srgbClr val="F7F2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결론/인사이트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CORAL은 cross 회복에 실효적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표현 강화 + 도메인 정렬의 결합이 핵심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Cross-domain ablation (none vs CORAL)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645920"/>
          <a:ext cx="107899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645920"/>
                <a:gridCol w="1645920"/>
                <a:gridCol w="1645920"/>
                <a:gridCol w="1645920"/>
              </a:tblGrid>
              <a:tr h="1127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방향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phase2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v3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v5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v5+CORAL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v8+CORAL</a:t>
                      </a:r>
                    </a:p>
                  </a:txBody>
                  <a:tcPr/>
                </a:tc>
              </a:tr>
              <a:tr h="1127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CREMA-&gt;RAVDESS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0.1190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0.1667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0.3025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0.3207</a:t>
                      </a:r>
                    </a:p>
                  </a:txBody>
                  <a:tcPr/>
                </a:tc>
              </a:tr>
              <a:tr h="1127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RAVDESS-&gt;CREMA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0.0714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0.1066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0.1439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0.3187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Phase-3.5(v6~v8): 0.7 구간 진입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557784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연구질문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학습전략 고도화 + HuBERT로 0.7 목표에 도달하는가?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005840"/>
            <a:ext cx="5577840" cy="2560320"/>
          </a:xfrm>
          <a:prstGeom prst="roundRect">
            <a:avLst/>
          </a:prstGeom>
          <a:solidFill>
            <a:srgbClr val="F3FAF4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방법론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v6 0.5985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v7 0.6056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v8 HuBERT tune + ensemble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703320"/>
            <a:ext cx="5577840" cy="2560320"/>
          </a:xfrm>
          <a:prstGeom prst="roundRect">
            <a:avLst/>
          </a:prstGeom>
          <a:solidFill>
            <a:srgbClr val="FFF5EB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비교/평가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v8 단일 0.6992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v8 앙상블 0.7099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cross 최고 0.3207/0.3187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03320"/>
            <a:ext cx="5577840" cy="2560320"/>
          </a:xfrm>
          <a:prstGeom prst="roundRect">
            <a:avLst/>
          </a:prstGeom>
          <a:solidFill>
            <a:srgbClr val="F7F2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결론/인사이트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0.7은 앙상블 기준 달성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단일모델은 임계점 근접, 품질/튜닝 고도화 시 상회 가능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Phase-2 모달리티별 성능 비교 (Macro-F1)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11064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72C6"/>
                </a:solidFill>
                <a:latin typeface="Malgun Gothic"/>
              </a:defRPr>
            </a:pPr>
            <a:r>
              <a:t>해석: main에서는 fusion 우세, cross에서는 방향별로 audio/fusion 우세가 갈리는 도메인 비대칭 확인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Main 성능 추이 (Emotion Macro-F1)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11064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72C6"/>
                </a:solidFill>
                <a:latin typeface="Malgun Gothic"/>
              </a:defRPr>
            </a:pPr>
            <a:r>
              <a:t>Phase-2(0.3950) -&gt; v8 단일(0.6992) -&gt; v8 앙상블(0.7099) | 표현+결합+적응의 누적 효과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Cross-domain 성능 비교 (Macro-F1)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110642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72C6"/>
                </a:solidFill>
                <a:latin typeface="Malgun Gothic"/>
              </a:defRPr>
            </a:pPr>
            <a:r>
              <a:t>v8 최종 cross: C-&gt;R 0.3207, R-&gt;C 0.3187 | CORAL + HuBERT 결합이 양방향 개선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main 대표 실험의 F1/MAE 추세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43000"/>
          <a:ext cx="104241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1645920"/>
                <a:gridCol w="1463040"/>
                <a:gridCol w="1828800"/>
                <a:gridCol w="1828800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delta(prev)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arousal2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arousal3 MAE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Phase-2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0.3950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0.4122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0.5875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Phase-3 FP32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0.3775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-0.0175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0.4195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0.5868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v2 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0.4205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+0.0430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0.4408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0.2379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0.6095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v3 rbfsvm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0.4807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+0.0602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0.4872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0.5883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v5 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0.5734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+0.0927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0.5729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0.5538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v6 fp32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0.5985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+0.0251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0.5994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0.5516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v7 fp32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+0.0071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0.5604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v8 단일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+0.0935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0.5392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v8 앙상블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+0.0107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0.5223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v8 후보군 상세 비교(상위 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6480"/>
                <a:gridCol w="1188720"/>
                <a:gridCol w="1188720"/>
                <a:gridCol w="1280160"/>
                <a:gridCol w="1371600"/>
              </a:tblGrid>
              <a:tr h="568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실험명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A2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장치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fp32_v8_hubert_ensemble_vote3_main_t3_t4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ensemble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fp32_v8_hubert_ensemble_vote3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ensemble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fp32_v8_hubert_gated_wide_tune4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cuda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fp32_v8_hubert_gated_wide_tune2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cuda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fp32_v8_hubert_gated_wide_tune1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cuda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fp32_v8_hubert_gated_wide_tune3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cuda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fp32_v8_hubert_gated_wide_main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cuda</a:t>
                      </a:r>
                    </a:p>
                  </a:txBody>
                  <a:tcPr/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fp32_v7_best_ref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0.2305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cpu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핵심 장애와 해결(실제 운영 이슈)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234440"/>
          <a:ext cx="108813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3017520"/>
                <a:gridCol w="2743200"/>
              </a:tblGrid>
              <a:tr h="93268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이슈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원인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해결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효과</a:t>
                      </a:r>
                    </a:p>
                  </a:txBody>
                  <a:tcPr/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WSL 의존성 누락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numpy/pip 부재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ensurepip/get-pip + 자동설치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실험 재실행 안정화</a:t>
                      </a:r>
                    </a:p>
                  </a:txBody>
                  <a:tcPr/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결측 라벨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학습 샘플 과도 누락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-1 마스킹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fold 샘플 수 정상화</a:t>
                      </a:r>
                    </a:p>
                  </a:txBody>
                  <a:tcPr/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GPU 미활용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CPU torch/device 해석 문제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cu126 전환 + 코드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CUDA 학습 정상화</a:t>
                      </a:r>
                    </a:p>
                  </a:txBody>
                  <a:tcPr/>
                </a:tc>
              </a:tr>
              <a:tr h="93268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진행률 불투명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장시간 무출력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progress.json + 로그 단계화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운영 가시성 개선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재현성 산출물 경로(핵심)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4300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852160"/>
                <a:gridCol w="347472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범주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대표 파일/경로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역할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설계 문서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deep-research-report-advancement (3).md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고도화 트랙/목표 정의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진행 문서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derived/reports/project_progress_until_2026-02-20.md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이슈/타임라인/상태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종합 보고서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derived/reports/full_research_process_and_results_until_2026-02-24_ko.md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방법론+인사이트 종합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main/cross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derived/reports/phase2_global_metrics.csv 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정량 비교 근거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최종 후보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derived/reports/phase35_next_v8_metrics.csv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 근접/달성 근거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도메인 적응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derived/reports/phase35_cross_domain_adapt_metrics.csv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개선 근거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설계 대비 구현 현황(P/A/T/Domain)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097280"/>
          <a:ext cx="113385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08960"/>
                <a:gridCol w="1645920"/>
                <a:gridCol w="5120640"/>
              </a:tblGrid>
              <a:tr h="104241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트랙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설계 요구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현재 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해석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P-track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ROI/품질플래그 + CMVN/SpecAug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부분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mel/delta/임베딩 반영, quality-aware 전처리 미완료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A-track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boosting + 고급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부분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LR/SVM/RF/gated 반영, XGB/LGBM/attention-lite 미완료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T-track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pretrained fine-tuning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부분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HuBERT 기반 강화 성공, backbone unfreeze 제한적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일반화 강화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CORAL로 양방향 cross 일관 개선 확인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algun Gothic"/>
              </a:defRPr>
            </a:pPr>
            <a:r>
              <a:t>IV. 결론과 의사결정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E1EBFA"/>
                </a:solidFill>
                <a:latin typeface="Malgun Gothic"/>
              </a:defRPr>
            </a:pPr>
            <a:r>
              <a:t>0.7 달성 해석, 0.9 전환 조건, 실행 리스크 관리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목표 트랙 분리: 0.7 vs 0.9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417320"/>
          <a:ext cx="9784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920240"/>
                <a:gridCol w="1554480"/>
                <a:gridCol w="1828800"/>
                <a:gridCol w="173736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현재 최고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격차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판정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 단일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근접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 앙상블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-0.0099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달성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0.9 단일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0.6992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미달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0.9 앙상블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0.7099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0.9200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+0.2101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미달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0.9 목표 전환 로드맵(설계 기반)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05840"/>
            <a:ext cx="557784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R1 전처리 고도화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ROI crop + 품질플래그(blur/brightness/success)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CMVN/SpecAug/loudness norm full pipeline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quality-aware feature fusion 입력 확장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005840"/>
            <a:ext cx="5577840" cy="2560320"/>
          </a:xfrm>
          <a:prstGeom prst="roundRect">
            <a:avLst/>
          </a:prstGeom>
          <a:solidFill>
            <a:srgbClr val="F3FAF4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R2 모델 구조 고도화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cross-attention-lite 결합 실험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boosting(XGB/LGBM) classical track 추가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가벼운 구조와 성능의 Pareto 탐색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703320"/>
            <a:ext cx="5577840" cy="2560320"/>
          </a:xfrm>
          <a:prstGeom prst="roundRect">
            <a:avLst/>
          </a:prstGeom>
          <a:solidFill>
            <a:srgbClr val="FFF5EB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R3 사전학습 파인튜닝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frozen embedding -&gt; partial unfreeze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오디오/비디오 상위 레이어 감정특화 미세조정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seed 반복으로 분산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703320"/>
            <a:ext cx="5577840" cy="2560320"/>
          </a:xfrm>
          <a:prstGeom prst="roundRect">
            <a:avLst/>
          </a:prstGeom>
          <a:solidFill>
            <a:srgbClr val="F7F2FF"/>
          </a:solidFill>
          <a:ln>
            <a:solidFill>
              <a:srgbClr val="CE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E203F"/>
                </a:solidFill>
                <a:latin typeface="Malgun Gothic"/>
              </a:defRPr>
            </a:pPr>
            <a:r>
              <a:t>R4 도메인 적응 강화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CORAL beyond: feature-level adaptation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consistency/self-training 경로 도입</a:t>
            </a:r>
          </a:p>
          <a:p>
            <a:pPr>
              <a:defRPr sz="1400" b="0">
                <a:solidFill>
                  <a:srgbClr val="424242"/>
                </a:solidFill>
                <a:latin typeface="Malgun Gothic"/>
              </a:defRPr>
            </a:pPr>
            <a:r>
              <a:t>• main + cross + 분산 동시 만족 기준 적용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리스크와 대응 전략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23444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  <a:gridCol w="3840480"/>
                <a:gridCol w="3200400"/>
              </a:tblGrid>
              <a:tr h="95097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리스크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영향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완화 전략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E203F"/>
                          </a:solidFill>
                          <a:latin typeface="Malgun Gothic"/>
                        </a:defRPr>
                      </a:pPr>
                      <a:r>
                        <a:t>판정 기준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main overfit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하락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cross 조기 경보 + 적응 병행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main 상승과 cross 동시 유지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복잡도 증가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온디바이스 이행 지연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구조-성능 Pareto 추적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latency/FPS 목표 유지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실험 분산 과대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재현성 저하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seed 반복 + CI 보고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CI 폭/평균 동시 관리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장시간 실행 중단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실험 누락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progress 모니터링 + 완주 정책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424242"/>
                          </a:solidFill>
                          <a:latin typeface="Malgun Gothic"/>
                        </a:defRPr>
                      </a:pPr>
                      <a:r>
                        <a:t>실험군 누락 0건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E203F"/>
                </a:solidFill>
                <a:latin typeface="Malgun Gothic"/>
              </a:defRPr>
            </a:pPr>
            <a:r>
              <a:t>최종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900" b="1">
                <a:solidFill>
                  <a:srgbClr val="0072C6"/>
                </a:solidFill>
                <a:latin typeface="Malgun Gothic"/>
              </a:defRPr>
            </a:pPr>
            <a:r>
              <a:t>현재 상태와 다음 의사결정</a:t>
            </a:r>
          </a:p>
          <a:p>
            <a:pPr>
              <a:defRPr sz="1800" b="0">
                <a:solidFill>
                  <a:srgbClr val="424242"/>
                </a:solidFill>
                <a:latin typeface="Malgun Gothic"/>
              </a:defRPr>
            </a:pPr>
            <a:r>
              <a:t>• 본 발표자료는 설계서/진행문서/종합보고서/실제 결과 파일을 교차해 재구성했습니다.</a:t>
            </a:r>
          </a:p>
          <a:p>
            <a:pPr>
              <a:defRPr sz="1800" b="0">
                <a:solidFill>
                  <a:srgbClr val="424242"/>
                </a:solidFill>
                <a:latin typeface="Malgun Gothic"/>
              </a:defRPr>
            </a:pPr>
            <a:r>
              <a:t>• 핵심 결론: 0.7 트랙 달성, 0.9 트랙은 구조 전환형 고도화가 필수입니다.</a:t>
            </a:r>
          </a:p>
          <a:p>
            <a:pPr>
              <a:defRPr sz="1800" b="0">
                <a:solidFill>
                  <a:srgbClr val="424242"/>
                </a:solidFill>
                <a:latin typeface="Malgun Gothic"/>
              </a:defRPr>
            </a:pPr>
            <a:r>
              <a:t>• phase2 fold0 기준: p95 11.19 ms, FPS 103.90</a:t>
            </a:r>
          </a:p>
          <a:p>
            <a:pPr>
              <a:defRPr sz="1800" b="0">
                <a:solidFill>
                  <a:srgbClr val="424242"/>
                </a:solidFill>
                <a:latin typeface="Malgun Gothic"/>
              </a:defRPr>
            </a:pPr>
            <a:r>
              <a:t>• 사용자 요청에 따라 신규 실험은 보류 상태이며, 보고/발표 자료 고도화를 우선 완료했습니다.</a:t>
            </a:r>
          </a:p>
          <a:p>
            <a:pPr>
              <a:defRPr sz="1800" b="0">
                <a:solidFill>
                  <a:srgbClr val="424242"/>
                </a:solidFill>
                <a:latin typeface="Malgun Gothic"/>
              </a:defRPr>
            </a:pPr>
            <a:r>
              <a:t>• 질의응답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