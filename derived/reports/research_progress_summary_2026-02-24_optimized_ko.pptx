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Emotion Macro-F1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Phase-2</c:v>
                </c:pt>
                <c:pt idx="1">
                  <c:v>v5</c:v>
                </c:pt>
                <c:pt idx="2">
                  <c:v>v7</c:v>
                </c:pt>
                <c:pt idx="3">
                  <c:v>v8 단일</c:v>
                </c:pt>
                <c:pt idx="4">
                  <c:v>v8 앙상블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0.3950126532293495</c:v>
                </c:pt>
                <c:pt idx="1">
                  <c:v>0.5734215586387995</c:v>
                </c:pt>
                <c:pt idx="2">
                  <c:v>0.6056304639310627</c:v>
                </c:pt>
                <c:pt idx="3">
                  <c:v>0.69917018470261</c:v>
                </c:pt>
                <c:pt idx="4">
                  <c:v>0.7098786794158665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Phase-2 fusion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CREMA-&gt;RAVDESS</c:v>
                </c:pt>
                <c:pt idx="1">
                  <c:v>RAVDESS-&gt;CREMA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0.22879563149425453</c:v>
                </c:pt>
                <c:pt idx="1">
                  <c:v>0.07141204059213567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v8 + CORAL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CREMA-&gt;RAVDESS</c:v>
                </c:pt>
                <c:pt idx="1">
                  <c:v>RAVDESS-&gt;CREMA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0.3206715697521032</c:v>
                </c:pt>
                <c:pt idx="1">
                  <c:v>0.3187326054140357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800" b="1">
                <a:solidFill>
                  <a:srgbClr val="112644"/>
                </a:solidFill>
                <a:latin typeface="Malgun Gothic"/>
              </a:defRPr>
            </a:pPr>
            <a:r>
              <a:t>CREMA-D + RAVDESS 멀티모달 감정인식 연구 진행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>
                <a:solidFill>
                  <a:srgbClr val="373737"/>
                </a:solidFill>
                <a:latin typeface="Malgun Gothic"/>
              </a:defRPr>
            </a:pPr>
            <a:r>
              <a:t>스토리 플로우: 문제정의 -&gt; 진단 -&gt; 개입 -&gt; 전환점 -&gt; 결론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2644"/>
                </a:solidFill>
                <a:latin typeface="Malgun Gothic"/>
              </a:defRPr>
            </a:pPr>
            <a:r>
              <a:t>한 장 요약 (스토리 핵심)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solidFill>
                  <a:srgbClr val="373737"/>
                </a:solidFill>
                <a:latin typeface="Malgun Gothic"/>
              </a:defRPr>
            </a:pPr>
            <a:r>
              <a:t>• 문제정의는 실험 뒤가 아니라 연구 시작 시점에 고정한다</a:t>
            </a:r>
          </a:p>
          <a:p>
            <a:pPr>
              <a:defRPr sz="2200" b="0">
                <a:solidFill>
                  <a:srgbClr val="373737"/>
                </a:solidFill>
                <a:latin typeface="Malgun Gothic"/>
              </a:defRPr>
            </a:pPr>
            <a:r>
              <a:t>• baseline은 문제정의의 근거를 확인하는 진단 단계로 사용한다</a:t>
            </a:r>
          </a:p>
          <a:p>
            <a:pPr>
              <a:defRPr sz="2200" b="0">
                <a:solidFill>
                  <a:srgbClr val="373737"/>
                </a:solidFill>
                <a:latin typeface="Malgun Gothic"/>
              </a:defRPr>
            </a:pPr>
            <a:r>
              <a:t>• 개입(표현/학습/도메인적응) 후 main과 cross 모두 개선됐다</a:t>
            </a:r>
          </a:p>
          <a:p>
            <a:pPr>
              <a:defRPr sz="2200" b="0">
                <a:solidFill>
                  <a:srgbClr val="373737"/>
                </a:solidFill>
                <a:latin typeface="Malgun Gothic"/>
              </a:defRPr>
            </a:pPr>
            <a:r>
              <a:t>• 결론: 0.7 구간 진입은 확인, 0.9는 별도 전환 트랙이 필요하다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2644"/>
                </a:solidFill>
                <a:latin typeface="Malgun Gothic"/>
              </a:defRPr>
            </a:pPr>
            <a:r>
              <a:t>발표 흐름 (하나의 이야기)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 b="0">
                <a:solidFill>
                  <a:srgbClr val="373737"/>
                </a:solidFill>
                <a:latin typeface="Malgun Gothic"/>
              </a:defRPr>
            </a:pPr>
            <a:r>
              <a:t>• 1막: 연구 시작 전 문제정의와 가설</a:t>
            </a:r>
          </a:p>
          <a:p>
            <a:pPr>
              <a:defRPr sz="2100" b="0">
                <a:solidFill>
                  <a:srgbClr val="373737"/>
                </a:solidFill>
                <a:latin typeface="Malgun Gothic"/>
              </a:defRPr>
            </a:pPr>
            <a:r>
              <a:t>• 2막: baseline 진단과 병목 확인</a:t>
            </a:r>
          </a:p>
          <a:p>
            <a:pPr>
              <a:defRPr sz="2100" b="0">
                <a:solidFill>
                  <a:srgbClr val="373737"/>
                </a:solidFill>
                <a:latin typeface="Malgun Gothic"/>
              </a:defRPr>
            </a:pPr>
            <a:r>
              <a:t>• 3막: 병목별 개입(표현, 학습, 도메인적응)</a:t>
            </a:r>
          </a:p>
          <a:p>
            <a:pPr>
              <a:defRPr sz="2100" b="0">
                <a:solidFill>
                  <a:srgbClr val="373737"/>
                </a:solidFill>
                <a:latin typeface="Malgun Gothic"/>
              </a:defRPr>
            </a:pPr>
            <a:r>
              <a:t>• 4막: 전환점(HuBERT)과 결과</a:t>
            </a:r>
          </a:p>
          <a:p>
            <a:pPr>
              <a:defRPr sz="2100" b="0">
                <a:solidFill>
                  <a:srgbClr val="373737"/>
                </a:solidFill>
                <a:latin typeface="Malgun Gothic"/>
              </a:defRPr>
            </a:pPr>
            <a:r>
              <a:t>• 5막: 결론과 다음 의사결정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2644"/>
                </a:solidFill>
                <a:latin typeface="Malgun Gothic"/>
              </a:defRPr>
            </a:pPr>
            <a:r>
              <a:t>1막. 연구 시작점: 사전 문제정의와 가설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 b="1">
                <a:solidFill>
                  <a:srgbClr val="0070C0"/>
                </a:solidFill>
                <a:latin typeface="Malgun Gothic"/>
              </a:defRPr>
            </a:pPr>
            <a:r>
              <a:t>중요: 문제정의가 먼저이고, baseline은 나중에 검증한다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문제상황: 실제 적용에서는 학습 데이터와 다른 도메인이 반드시 등장한다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목표: in-domain 정확도뿐 아니라 cross-domain 일반화까지 확보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가설 H1: 표현력(pretrained) 강화가 main 성능을 높인다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가설 H2: 도메인적응(CORAL)이 cross 붕괴를 완화한다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가설 H3: 불균형 대응(weighted sampler/label smoothing)이 macro-F1을 안정화한다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2644"/>
                </a:solidFill>
                <a:latin typeface="Malgun Gothic"/>
              </a:defRPr>
            </a:pPr>
            <a:r>
              <a:t>2막. baseline 진단: 가설을 수치로 점검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 b="1">
                <a:solidFill>
                  <a:srgbClr val="0070C0"/>
                </a:solidFill>
                <a:latin typeface="Malgun Gothic"/>
              </a:defRPr>
            </a:pPr>
            <a:r>
              <a:t>여기서부터는 문제정의를 검증하는 단계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main baseline: audio 0.3671, video 0.2536, fusion 0.3950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fusion-audio Δ=+0.0281, 95%CI[0.0196,0.0373]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fusion-video Δ=+0.1417, 95%CI[0.1294,0.1531]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cross baseline: C-&gt;R 0.2288, R-&gt;C 0.0714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판단: 멀티모달은 효과가 있으나, cross 붕괴가 핵심 병목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2644"/>
                </a:solidFill>
                <a:latin typeface="Malgun Gothic"/>
              </a:defRPr>
            </a:pPr>
            <a:r>
              <a:t>3막-A. 개입 1: 입력 표현 강화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 b="1">
                <a:solidFill>
                  <a:srgbClr val="0070C0"/>
                </a:solidFill>
                <a:latin typeface="Malgun Gothic"/>
              </a:defRPr>
            </a:pPr>
            <a:r>
              <a:t>무엇/왜/어디/어떻게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무엇: log-mel/delta + pretrained embedding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왜: 저차원 통계특징만으로는 감정 분별 정보가 부족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어디: `scripts/prepare_advanced_features.py`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어떻게: cache_v1 -&gt; v5_hubert 단계 확장, 동일 split에서 비교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결과 흐름: main F1 0.3950 -&gt; 0.5734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2644"/>
                </a:solidFill>
                <a:latin typeface="Malgun Gothic"/>
              </a:defRPr>
            </a:pPr>
            <a:r>
              <a:t>3막-B. 개입 2: 학습 안정화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 b="1">
                <a:solidFill>
                  <a:srgbClr val="0070C0"/>
                </a:solidFill>
                <a:latin typeface="Malgun Gothic"/>
              </a:defRPr>
            </a:pPr>
            <a:r>
              <a:t>무엇/왜/어디/어떻게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무엇: dual encoder + gated fusion + multitask(emotion/a2/a3)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왜: 모달 상보성 확보 + 불균형/과적합 대응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어디: `scripts/train_fp32_multitask.py`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어떻게: weighted sampler, label smoothing, modality dropout 조합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결과 흐름: main F1 0.5734 -&gt; 0.6056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2644"/>
                </a:solidFill>
                <a:latin typeface="Malgun Gothic"/>
              </a:defRPr>
            </a:pPr>
            <a:r>
              <a:t>3막-C. 개입 3: 도메인적응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 b="1">
                <a:solidFill>
                  <a:srgbClr val="0070C0"/>
                </a:solidFill>
                <a:latin typeface="Malgun Gothic"/>
              </a:defRPr>
            </a:pPr>
            <a:r>
              <a:t>무엇/왜/어디/어떻게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무엇: CORAL(Covariance Alignment)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왜: source/target feature 분포 차이(도메인 갭) 완화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어디: `scripts/train_ml_baselines.py`의 `coral_align_train_to_val`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어떻게: 타깃 라벨 없이 공분산 정렬 후 분류기 학습/평가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결과: cross C-&gt;R 0.2288-&gt;0.3207, R-&gt;C 0.0714-&gt;0.3187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2644"/>
                </a:solidFill>
                <a:latin typeface="Malgun Gothic"/>
              </a:defRPr>
            </a:pPr>
            <a:r>
              <a:t>4막. 전환점: HuBERT + FP32 튜닝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 b="1">
                <a:solidFill>
                  <a:srgbClr val="0070C0"/>
                </a:solidFill>
                <a:latin typeface="Malgun Gothic"/>
              </a:defRPr>
            </a:pPr>
            <a:r>
              <a:t>개입이 누적되며 성능 점프가 발생한 구간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무엇: audio pretrained를 wav2vec2에서 HuBERT로 전환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왜: 표현 품질을 한 단계 더 올려 단일모델 임계점 접근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어디: `scripts/run_phase35_next_v8_hubert_main.sh`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어떻게: cache_v5_hubert 생성 후 FP32 gated wide 튜닝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결과: 단일 0.6992, 앙상블 0.7099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2644"/>
                </a:solidFill>
                <a:latin typeface="Malgun Gothic"/>
              </a:defRPr>
            </a:pPr>
            <a:r>
              <a:t>전: Main 성능 추세 (핵심만)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7498079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03920" y="1554480"/>
            <a:ext cx="3474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373737"/>
                </a:solidFill>
                <a:latin typeface="Malgun Gothic"/>
              </a:defRPr>
            </a:pPr>
            <a:r>
              <a:t>출발점: 0.3950</a:t>
            </a:r>
          </a:p>
          <a:p>
            <a:pPr algn="l">
              <a:defRPr sz="1600" b="0">
                <a:solidFill>
                  <a:srgbClr val="373737"/>
                </a:solidFill>
                <a:latin typeface="Malgun Gothic"/>
              </a:defRPr>
            </a:pPr>
            <a:r>
              <a:t>현재 최고: 0.7099</a:t>
            </a:r>
          </a:p>
          <a:p>
            <a:pPr algn="l">
              <a:defRPr sz="1600" b="0">
                <a:solidFill>
                  <a:srgbClr val="373737"/>
                </a:solidFill>
                <a:latin typeface="Malgun Gothic"/>
              </a:defRPr>
            </a:pPr>
            <a:r>
              <a:t>단일 최고: 0.6992</a:t>
            </a:r>
          </a:p>
          <a:p>
            <a:pPr algn="l">
              <a:defRPr sz="1600" b="0">
                <a:solidFill>
                  <a:srgbClr val="373737"/>
                </a:solidFill>
                <a:latin typeface="Malgun Gothic"/>
              </a:defRPr>
            </a:pPr>
          </a:p>
          <a:p>
            <a:pPr algn="l">
              <a:defRPr sz="1600" b="1">
                <a:solidFill>
                  <a:srgbClr val="373737"/>
                </a:solidFill>
                <a:latin typeface="Malgun Gothic"/>
              </a:defRPr>
            </a:pPr>
            <a:r>
              <a:t>해석:</a:t>
            </a:r>
          </a:p>
          <a:p>
            <a:pPr algn="l">
              <a:defRPr sz="1600" b="0">
                <a:solidFill>
                  <a:srgbClr val="373737"/>
                </a:solidFill>
                <a:latin typeface="Malgun Gothic"/>
              </a:defRPr>
            </a:pPr>
            <a:r>
              <a:t>표현(HuBERT)+학습레시피+결합 구조가</a:t>
            </a:r>
          </a:p>
          <a:p>
            <a:pPr algn="l">
              <a:defRPr sz="1600" b="0">
                <a:solidFill>
                  <a:srgbClr val="373737"/>
                </a:solidFill>
                <a:latin typeface="Malgun Gothic"/>
              </a:defRPr>
            </a:pPr>
            <a:r>
              <a:t>누적되며 성능이 상승했습니다.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2644"/>
                </a:solidFill>
                <a:latin typeface="Malgun Gothic"/>
              </a:defRPr>
            </a:pPr>
            <a:r>
              <a:t>전: Cross 일반화 결과 (병목과 개선)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7498079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03920" y="1554480"/>
            <a:ext cx="3474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373737"/>
                </a:solidFill>
                <a:latin typeface="Malgun Gothic"/>
              </a:defRPr>
            </a:pPr>
            <a:r>
              <a:t>C-&gt;R: 0.2288 -&gt; 0.3207</a:t>
            </a:r>
          </a:p>
          <a:p>
            <a:pPr algn="l">
              <a:defRPr sz="1600" b="0">
                <a:solidFill>
                  <a:srgbClr val="373737"/>
                </a:solidFill>
                <a:latin typeface="Malgun Gothic"/>
              </a:defRPr>
            </a:pPr>
            <a:r>
              <a:t>R-&gt;C: 0.0714 -&gt; 0.3187</a:t>
            </a:r>
          </a:p>
          <a:p>
            <a:pPr algn="l">
              <a:defRPr sz="1600" b="0">
                <a:solidFill>
                  <a:srgbClr val="373737"/>
                </a:solidFill>
                <a:latin typeface="Malgun Gothic"/>
              </a:defRPr>
            </a:pPr>
          </a:p>
          <a:p>
            <a:pPr algn="l">
              <a:defRPr sz="1600" b="0">
                <a:solidFill>
                  <a:srgbClr val="373737"/>
                </a:solidFill>
                <a:latin typeface="Malgun Gothic"/>
              </a:defRPr>
            </a:pPr>
            <a:r>
              <a:t>개선폭: +0.0919 / +0.2473</a:t>
            </a:r>
          </a:p>
          <a:p>
            <a:pPr algn="l">
              <a:defRPr sz="1600" b="0">
                <a:solidFill>
                  <a:srgbClr val="373737"/>
                </a:solidFill>
                <a:latin typeface="Malgun Gothic"/>
              </a:defRPr>
            </a:pPr>
          </a:p>
          <a:p>
            <a:pPr algn="l">
              <a:defRPr sz="1600" b="1">
                <a:solidFill>
                  <a:srgbClr val="373737"/>
                </a:solidFill>
                <a:latin typeface="Malgun Gothic"/>
              </a:defRPr>
            </a:pPr>
            <a:r>
              <a:t>해석:</a:t>
            </a:r>
          </a:p>
          <a:p>
            <a:pPr algn="l">
              <a:defRPr sz="1600" b="0">
                <a:solidFill>
                  <a:srgbClr val="373737"/>
                </a:solidFill>
                <a:latin typeface="Malgun Gothic"/>
              </a:defRPr>
            </a:pPr>
            <a:r>
              <a:t>도메인 갭은 줄었지만 절대수준은</a:t>
            </a:r>
          </a:p>
          <a:p>
            <a:pPr algn="l">
              <a:defRPr sz="1600" b="0">
                <a:solidFill>
                  <a:srgbClr val="373737"/>
                </a:solidFill>
                <a:latin typeface="Malgun Gothic"/>
              </a:defRPr>
            </a:pPr>
            <a:r>
              <a:t>main 대비 여전히 낮습니다.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2644"/>
                </a:solidFill>
                <a:latin typeface="Malgun Gothic"/>
              </a:defRPr>
            </a:pPr>
            <a:r>
              <a:t>5막. 해석: 무엇이 통했고, 무엇이 남았나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통한 것: 표현강화 + 학습안정화 + 도메인적응의 조합 전략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남은 것: cross 절대성능은 아직 낮고 0.9까지 큰 격차가 존재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현재 위치: 0.7 구간 진입(앙상블), 단일 0.9까지 +0.2008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핵심 교훈: 문제정의-가설-개입-검증 흐름을 유지해야 다음 실험이 설득된다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2644"/>
                </a:solidFill>
                <a:latin typeface="Malgun Gothic"/>
              </a:defRPr>
            </a:pPr>
            <a:r>
              <a:t>결론. 다음 의사결정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 b="1">
                <a:solidFill>
                  <a:srgbClr val="0070C0"/>
                </a:solidFill>
                <a:latin typeface="Malgun Gothic"/>
              </a:defRPr>
            </a:pPr>
            <a:r>
              <a:t>트랙을 분리해 연구 리스크를 낮춘다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근거1: cross 최고도 0.3207/0.3187로 main(0.7099) 대비 격차 큼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근거2: ROI/품질플래그, partial unfreeze fine-tuning, deep adaptation은 아직 미완료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근거3: 따라서 동일 접근 반복보다 구조 전환형 실험이 필요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트랙 A(단기): 단일모델 0.7 안정 재현(시드/튜닝/분산관리)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트랙 B(중기): 0.9 전환(ROI/품질플래그 + partial unfreeze + deep adaptation)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운영 원칙: 새 실험 시작 전 '문제근거-&gt;가설-&gt;방법-&gt;판정기준' 1페이지 명시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2644"/>
                </a:solidFill>
                <a:latin typeface="Malgun Gothic"/>
              </a:defRPr>
            </a:pPr>
            <a:r>
              <a:t>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 b="0">
                <a:solidFill>
                  <a:srgbClr val="373737"/>
                </a:solidFill>
                <a:latin typeface="Malgun Gothic"/>
              </a:defRPr>
            </a:pPr>
            <a:r>
              <a:t>• 이 연구는 '많은 실험'보다 '의도와 근거가 연결된 실험'으로 정리했다</a:t>
            </a:r>
          </a:p>
          <a:p>
            <a:pPr>
              <a:defRPr sz="2300" b="0">
                <a:solidFill>
                  <a:srgbClr val="373737"/>
                </a:solidFill>
                <a:latin typeface="Malgun Gothic"/>
              </a:defRPr>
            </a:pPr>
            <a:r>
              <a:t>• 핵심 질문에 대한 답: 멀티모달 고도화는 효과가 있었고, 다음 병목도 명확해졌다</a:t>
            </a:r>
          </a:p>
          <a:p>
            <a:pPr>
              <a:defRPr sz="2300" b="0">
                <a:solidFill>
                  <a:srgbClr val="373737"/>
                </a:solidFill>
                <a:latin typeface="Malgun Gothic"/>
              </a:defRPr>
            </a:pPr>
            <a:r>
              <a:t>• 질의응답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2644"/>
                </a:solidFill>
                <a:latin typeface="Malgun Gothic"/>
              </a:defRPr>
            </a:pPr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 b="1">
                <a:solidFill>
                  <a:srgbClr val="0070C0"/>
                </a:solidFill>
                <a:latin typeface="Malgun Gothic"/>
              </a:defRPr>
            </a:pPr>
            <a:r>
              <a:t>답변 원칙: 의도 -&gt; 방법 -&gt; 결과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질문이 오면 먼저 해당 문제정의의 근거 수치를 제시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수치 질문은 발표 슬라이드/요약 파일의 동일 값으로만 답변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설정 질문은 코드 위치와 실험명까지 함께 제시</a:t>
            </a:r>
          </a:p>
          <a:p>
            <a:pPr>
              <a:defRPr sz="2000" b="0">
                <a:solidFill>
                  <a:srgbClr val="373737"/>
                </a:solidFill>
                <a:latin typeface="Malgun Gothic"/>
              </a:defRPr>
            </a:pPr>
            <a:r>
              <a:t>• 상세 문답은 확장본 Q&amp;A 문서로 연결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